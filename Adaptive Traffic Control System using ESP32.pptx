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84"/>
  </p:normalViewPr>
  <p:slideViewPr>
    <p:cSldViewPr snapToGrid="0">
      <p:cViewPr varScale="1">
        <p:scale>
          <a:sx n="91" d="100"/>
          <a:sy n="91" d="100"/>
        </p:scale>
        <p:origin x="192" y="8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9/8/25</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671502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9/8/25</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613037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9/8/25</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11616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9/8/25</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10096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9/8/25</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938315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9/8/25</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61524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9/8/25</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731839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9/8/25</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98245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9/8/25</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083897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9/8/25</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4193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9/8/25</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900347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9/8/25</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2902031056"/>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9" r:id="rId6"/>
    <p:sldLayoutId id="2147483884" r:id="rId7"/>
    <p:sldLayoutId id="2147483885" r:id="rId8"/>
    <p:sldLayoutId id="2147483886" r:id="rId9"/>
    <p:sldLayoutId id="2147483888" r:id="rId10"/>
    <p:sldLayoutId id="2147483887"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C0F6F83-1864-AE84-743A-058F24F08C6F}"/>
              </a:ext>
            </a:extLst>
          </p:cNvPr>
          <p:cNvSpPr>
            <a:spLocks noGrp="1"/>
          </p:cNvSpPr>
          <p:nvPr>
            <p:ph type="ctrTitle"/>
          </p:nvPr>
        </p:nvSpPr>
        <p:spPr>
          <a:xfrm>
            <a:off x="372570" y="662331"/>
            <a:ext cx="1977727" cy="782922"/>
          </a:xfrm>
        </p:spPr>
        <p:txBody>
          <a:bodyPr>
            <a:noAutofit/>
          </a:bodyPr>
          <a:lstStyle/>
          <a:p>
            <a:r>
              <a:rPr lang="en-US" sz="4400" b="1" i="0" dirty="0">
                <a:latin typeface="Times New Roman" panose="02020603050405020304" pitchFamily="18" charset="0"/>
                <a:cs typeface="Times New Roman" panose="02020603050405020304" pitchFamily="18" charset="0"/>
              </a:rPr>
              <a:t>Title</a:t>
            </a:r>
            <a:r>
              <a:rPr lang="en-US" sz="4400"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1B16CC85-06C6-002F-77F1-6E061EB3E4CD}"/>
              </a:ext>
            </a:extLst>
          </p:cNvPr>
          <p:cNvSpPr>
            <a:spLocks noGrp="1"/>
          </p:cNvSpPr>
          <p:nvPr>
            <p:ph type="subTitle" idx="1"/>
          </p:nvPr>
        </p:nvSpPr>
        <p:spPr>
          <a:xfrm>
            <a:off x="530225" y="1678910"/>
            <a:ext cx="8857447" cy="2722836"/>
          </a:xfrm>
        </p:spPr>
        <p:txBody>
          <a:bodyPr>
            <a:normAutofit/>
          </a:bodyPr>
          <a:lstStyle/>
          <a:p>
            <a:r>
              <a:rPr lang="en-US" sz="3600" b="1" i="0" dirty="0">
                <a:latin typeface="Times New Roman" panose="02020603050405020304" pitchFamily="18" charset="0"/>
                <a:cs typeface="Times New Roman" panose="02020603050405020304" pitchFamily="18" charset="0"/>
              </a:rPr>
              <a:t>Designing a adaptive traffic control system using esp32</a:t>
            </a:r>
          </a:p>
        </p:txBody>
      </p:sp>
      <p:sp>
        <p:nvSpPr>
          <p:cNvPr id="116" name="Freeform: Shape 115">
            <a:extLst>
              <a:ext uri="{FF2B5EF4-FFF2-40B4-BE49-F238E27FC236}">
                <a16:creationId xmlns:a16="http://schemas.microsoft.com/office/drawing/2014/main" id="{8972B65B-8AFA-4B5C-BFC6-E443F3777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839951" cy="1423657"/>
          </a:xfrm>
          <a:custGeom>
            <a:avLst/>
            <a:gdLst>
              <a:gd name="connsiteX0" fmla="*/ 0 w 2331138"/>
              <a:gd name="connsiteY0" fmla="*/ 0 h 3352676"/>
              <a:gd name="connsiteX1" fmla="*/ 2331138 w 2331138"/>
              <a:gd name="connsiteY1" fmla="*/ 0 h 3352676"/>
              <a:gd name="connsiteX2" fmla="*/ 2331138 w 2331138"/>
              <a:gd name="connsiteY2" fmla="*/ 3352676 h 3352676"/>
              <a:gd name="connsiteX3" fmla="*/ 2097210 w 2331138"/>
              <a:gd name="connsiteY3" fmla="*/ 3226228 h 3352676"/>
              <a:gd name="connsiteX4" fmla="*/ 214881 w 2331138"/>
              <a:gd name="connsiteY4" fmla="*/ 1176738 h 3352676"/>
              <a:gd name="connsiteX5" fmla="*/ 1129 w 2331138"/>
              <a:gd name="connsiteY5" fmla="*/ 67475 h 335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138" h="3352676">
                <a:moveTo>
                  <a:pt x="0" y="0"/>
                </a:moveTo>
                <a:lnTo>
                  <a:pt x="2331138" y="0"/>
                </a:lnTo>
                <a:lnTo>
                  <a:pt x="2331138" y="3352676"/>
                </a:lnTo>
                <a:lnTo>
                  <a:pt x="2097210" y="3226228"/>
                </a:lnTo>
                <a:cubicBezTo>
                  <a:pt x="1273150" y="2744079"/>
                  <a:pt x="560886" y="2027200"/>
                  <a:pt x="214881" y="1176738"/>
                </a:cubicBezTo>
                <a:cubicBezTo>
                  <a:pt x="72781" y="827511"/>
                  <a:pt x="14297" y="430630"/>
                  <a:pt x="1129" y="67475"/>
                </a:cubicBezTo>
                <a:close/>
              </a:path>
            </a:pathLst>
          </a:custGeom>
          <a:solidFill>
            <a:schemeClr val="accent1">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18" name="Graphic 78">
            <a:extLst>
              <a:ext uri="{FF2B5EF4-FFF2-40B4-BE49-F238E27FC236}">
                <a16:creationId xmlns:a16="http://schemas.microsoft.com/office/drawing/2014/main" id="{8B32F32D-2578-47BA-A8C8-B9CC3F8A09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119" name="Graphic 78">
              <a:extLst>
                <a:ext uri="{FF2B5EF4-FFF2-40B4-BE49-F238E27FC236}">
                  <a16:creationId xmlns:a16="http://schemas.microsoft.com/office/drawing/2014/main" id="{FE39C5A6-D000-4F68-8942-DD0D6D6F8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20" name="Graphic 78">
              <a:extLst>
                <a:ext uri="{FF2B5EF4-FFF2-40B4-BE49-F238E27FC236}">
                  <a16:creationId xmlns:a16="http://schemas.microsoft.com/office/drawing/2014/main" id="{E89890B6-1232-480B-A1E4-4EE4897F64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21" name="Graphic 78">
                <a:extLst>
                  <a:ext uri="{FF2B5EF4-FFF2-40B4-BE49-F238E27FC236}">
                    <a16:creationId xmlns:a16="http://schemas.microsoft.com/office/drawing/2014/main" id="{AA2A92B4-DD5E-4659-876C-CEF27D8A3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2" name="Graphic 78">
                <a:extLst>
                  <a:ext uri="{FF2B5EF4-FFF2-40B4-BE49-F238E27FC236}">
                    <a16:creationId xmlns:a16="http://schemas.microsoft.com/office/drawing/2014/main" id="{CB3716F9-57FA-4E55-B926-D141DFDE7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3" name="Graphic 78">
                <a:extLst>
                  <a:ext uri="{FF2B5EF4-FFF2-40B4-BE49-F238E27FC236}">
                    <a16:creationId xmlns:a16="http://schemas.microsoft.com/office/drawing/2014/main" id="{6E65CA48-F624-4AAA-B08C-4D030E798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4" name="Graphic 78">
                <a:extLst>
                  <a:ext uri="{FF2B5EF4-FFF2-40B4-BE49-F238E27FC236}">
                    <a16:creationId xmlns:a16="http://schemas.microsoft.com/office/drawing/2014/main" id="{5AB96607-3A57-4F71-87E5-C0D546FEB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126" name="Freeform: Shape 125">
            <a:extLst>
              <a:ext uri="{FF2B5EF4-FFF2-40B4-BE49-F238E27FC236}">
                <a16:creationId xmlns:a16="http://schemas.microsoft.com/office/drawing/2014/main" id="{286E5E1D-FD49-448F-83C8-E06466BE5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899042" y="5608708"/>
            <a:ext cx="4292956" cy="1249292"/>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8" name="Group 127">
            <a:extLst>
              <a:ext uri="{FF2B5EF4-FFF2-40B4-BE49-F238E27FC236}">
                <a16:creationId xmlns:a16="http://schemas.microsoft.com/office/drawing/2014/main" id="{D82E7BA0-A7BA-4C61-9D6F-5345A54056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47993" y="5742897"/>
            <a:ext cx="886141" cy="802496"/>
            <a:chOff x="10948005" y="3272152"/>
            <a:chExt cx="868640" cy="786648"/>
          </a:xfrm>
          <a:solidFill>
            <a:schemeClr val="accent6"/>
          </a:solidFill>
        </p:grpSpPr>
        <p:sp>
          <p:nvSpPr>
            <p:cNvPr id="129" name="Freeform: Shape 128">
              <a:extLst>
                <a:ext uri="{FF2B5EF4-FFF2-40B4-BE49-F238E27FC236}">
                  <a16:creationId xmlns:a16="http://schemas.microsoft.com/office/drawing/2014/main" id="{B5369E81-3115-4284-995E-F753EB421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30" name="Freeform: Shape 129">
              <a:extLst>
                <a:ext uri="{FF2B5EF4-FFF2-40B4-BE49-F238E27FC236}">
                  <a16:creationId xmlns:a16="http://schemas.microsoft.com/office/drawing/2014/main" id="{44729589-1C6A-4995-83DB-3C8AC2B8DE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31" name="Freeform: Shape 130">
              <a:extLst>
                <a:ext uri="{FF2B5EF4-FFF2-40B4-BE49-F238E27FC236}">
                  <a16:creationId xmlns:a16="http://schemas.microsoft.com/office/drawing/2014/main" id="{7A966D0D-0B99-4534-8150-ECA25F804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32" name="Graphic 12">
              <a:extLst>
                <a:ext uri="{FF2B5EF4-FFF2-40B4-BE49-F238E27FC236}">
                  <a16:creationId xmlns:a16="http://schemas.microsoft.com/office/drawing/2014/main" id="{7DC8EDF8-9492-4A6B-8050-A6B44F11B5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33" name="Graphic 15">
              <a:extLst>
                <a:ext uri="{FF2B5EF4-FFF2-40B4-BE49-F238E27FC236}">
                  <a16:creationId xmlns:a16="http://schemas.microsoft.com/office/drawing/2014/main" id="{13B4EDF3-5414-4F6E-8824-4FDC7BFD5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34" name="Graphic 15">
              <a:extLst>
                <a:ext uri="{FF2B5EF4-FFF2-40B4-BE49-F238E27FC236}">
                  <a16:creationId xmlns:a16="http://schemas.microsoft.com/office/drawing/2014/main" id="{6CE204CE-5738-4712-8E02-CF746C010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D2369023-4235-4E1E-A424-EA0EA83D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7180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0F97F-03D4-0777-865E-523C4F7265FC}"/>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6D060558-F527-47EF-6A75-0FE632E2EE7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Urban intersections are plagued by traffic congestion, inefficient signal timings, and increasing vehicular density, leading to unnecessary waiting, fuel wastage, and air pollution. Conventional traffic lights operate on fixed cycles regardless of real-time conditions, causing inefficiency and driver frustration. The need exists for an intelligent traffic signal solution that can dynamically adapt to live traffic patterns and reduce congestion through optimal signal phase allocation.</a:t>
            </a:r>
          </a:p>
          <a:p>
            <a:endParaRPr lang="en-US" dirty="0"/>
          </a:p>
        </p:txBody>
      </p:sp>
    </p:spTree>
    <p:extLst>
      <p:ext uri="{BB962C8B-B14F-4D97-AF65-F5344CB8AC3E}">
        <p14:creationId xmlns:p14="http://schemas.microsoft.com/office/powerpoint/2010/main" val="2324586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59D3C-84F1-20B5-8EB5-3E7725816191}"/>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C9563DEE-9A64-BB85-2D83-57A38F397FB1}"/>
              </a:ext>
            </a:extLst>
          </p:cNvPr>
          <p:cNvSpPr>
            <a:spLocks noGrp="1"/>
          </p:cNvSpPr>
          <p:nvPr>
            <p:ph idx="1"/>
          </p:nvPr>
        </p:nvSpPr>
        <p:spPr/>
        <p:txBody>
          <a:bodyPr>
            <a:noAutofit/>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an adaptive traffic light control system using ESP32 to dynamically adjust signal timing based on real-time traffic density.</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ultrasonic sensors to detect vehicle presence at each lane or signal.</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 the system is cost-effective, scalable, and suitable for urban implementation.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 future expansion for emergency vehicle prioritization and advanced analytics.</a:t>
            </a:r>
          </a:p>
        </p:txBody>
      </p:sp>
    </p:spTree>
    <p:extLst>
      <p:ext uri="{BB962C8B-B14F-4D97-AF65-F5344CB8AC3E}">
        <p14:creationId xmlns:p14="http://schemas.microsoft.com/office/powerpoint/2010/main" val="3520105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DCE8D-7BB7-2AD9-D9F9-1F0058636FD1}"/>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id="{6FFFA4C5-333C-277D-DBEF-6BE155268BC8}"/>
              </a:ext>
            </a:extLst>
          </p:cNvPr>
          <p:cNvSpPr>
            <a:spLocks noGrp="1"/>
          </p:cNvSpPr>
          <p:nvPr>
            <p:ph idx="1"/>
          </p:nvPr>
        </p:nvSpPr>
        <p:spPr/>
        <p:txBody>
          <a:bodyPr>
            <a:noAutofit/>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Urban Intersection Management: Adaptive control in busy city junctions to minimize wait times and clear congestion.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Emergency Response: (Future scope) Priority passage for ambulances or fire trucks by dynamically switching lights.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Low-Traffic Scenarios: Signals automatically skip directions without waiting vehicles for improved flow.</a:t>
            </a:r>
          </a:p>
        </p:txBody>
      </p:sp>
    </p:spTree>
    <p:extLst>
      <p:ext uri="{BB962C8B-B14F-4D97-AF65-F5344CB8AC3E}">
        <p14:creationId xmlns:p14="http://schemas.microsoft.com/office/powerpoint/2010/main" val="3359056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7" name="Freeform: Shape 1036">
            <a:extLst>
              <a:ext uri="{FF2B5EF4-FFF2-40B4-BE49-F238E27FC236}">
                <a16:creationId xmlns:a16="http://schemas.microsoft.com/office/drawing/2014/main" id="{435959F4-53DA-47FF-BC24-1E5B75C69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39" name="Group 1038">
            <a:extLst>
              <a:ext uri="{FF2B5EF4-FFF2-40B4-BE49-F238E27FC236}">
                <a16:creationId xmlns:a16="http://schemas.microsoft.com/office/drawing/2014/main" id="{A7CF83E8-F6F0-41E3-B580-7412A04DDF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040" name="Freeform: Shape 1039">
              <a:extLst>
                <a:ext uri="{FF2B5EF4-FFF2-40B4-BE49-F238E27FC236}">
                  <a16:creationId xmlns:a16="http://schemas.microsoft.com/office/drawing/2014/main" id="{1A0B6DBB-705D-48D0-842C-F9DFA7684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041" name="Freeform: Shape 1040">
              <a:extLst>
                <a:ext uri="{FF2B5EF4-FFF2-40B4-BE49-F238E27FC236}">
                  <a16:creationId xmlns:a16="http://schemas.microsoft.com/office/drawing/2014/main" id="{C194A764-16E1-4D0D-9357-76F80E60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042" name="Freeform: Shape 1041">
              <a:extLst>
                <a:ext uri="{FF2B5EF4-FFF2-40B4-BE49-F238E27FC236}">
                  <a16:creationId xmlns:a16="http://schemas.microsoft.com/office/drawing/2014/main" id="{115B7F3F-A40D-4F24-8536-E2420B433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043" name="Graphic 12">
              <a:extLst>
                <a:ext uri="{FF2B5EF4-FFF2-40B4-BE49-F238E27FC236}">
                  <a16:creationId xmlns:a16="http://schemas.microsoft.com/office/drawing/2014/main" id="{CEF42844-A829-4ED2-A360-63BB2A7C4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044" name="Graphic 15">
              <a:extLst>
                <a:ext uri="{FF2B5EF4-FFF2-40B4-BE49-F238E27FC236}">
                  <a16:creationId xmlns:a16="http://schemas.microsoft.com/office/drawing/2014/main" id="{57B23B52-A1C3-44EF-BC11-9094A0DA1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045" name="Graphic 15">
              <a:extLst>
                <a:ext uri="{FF2B5EF4-FFF2-40B4-BE49-F238E27FC236}">
                  <a16:creationId xmlns:a16="http://schemas.microsoft.com/office/drawing/2014/main" id="{064E08E5-DA92-4CF2-A0BF-E34180022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046" name="Freeform: Shape 1045">
              <a:extLst>
                <a:ext uri="{FF2B5EF4-FFF2-40B4-BE49-F238E27FC236}">
                  <a16:creationId xmlns:a16="http://schemas.microsoft.com/office/drawing/2014/main" id="{7A222560-E657-4CAE-B667-7BE9E224B2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48" name="Freeform: Shape 1047">
            <a:extLst>
              <a:ext uri="{FF2B5EF4-FFF2-40B4-BE49-F238E27FC236}">
                <a16:creationId xmlns:a16="http://schemas.microsoft.com/office/drawing/2014/main" id="{59226104-0061-4319-8237-9C001BF85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50" name="Rectangle 1049">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1032" name="Picture 8" descr="Adaptive Traffic Control System block diagram with IR sensors, microcontroller, drivers, and lane-specific traffic lights.">
            <a:extLst>
              <a:ext uri="{FF2B5EF4-FFF2-40B4-BE49-F238E27FC236}">
                <a16:creationId xmlns:a16="http://schemas.microsoft.com/office/drawing/2014/main" id="{82CAA048-E252-CDFE-6F95-AD73306B8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392" b="16800"/>
          <a:stretch>
            <a:fillRect/>
          </a:stretch>
        </p:blipFill>
        <p:spPr bwMode="auto">
          <a:xfrm>
            <a:off x="530973" y="501650"/>
            <a:ext cx="11129649" cy="5854699"/>
          </a:xfrm>
          <a:prstGeom prst="rect">
            <a:avLst/>
          </a:prstGeom>
          <a:noFill/>
          <a:extLst>
            <a:ext uri="{909E8E84-426E-40DD-AFC4-6F175D3DCCD1}">
              <a14:hiddenFill xmlns:a14="http://schemas.microsoft.com/office/drawing/2010/main">
                <a:solidFill>
                  <a:srgbClr val="FFFFFF"/>
                </a:solidFill>
              </a14:hiddenFill>
            </a:ext>
          </a:extLst>
        </p:spPr>
      </p:pic>
      <p:sp>
        <p:nvSpPr>
          <p:cNvPr id="1052" name="Freeform: Shape 1051">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4" name="Freeform: Shape 1053">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56" name="Group 1055">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1057" name="Freeform: Shape 1056">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058" name="Freeform: Shape 1057">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059" name="Freeform: Shape 1058">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1060"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1061"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062"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1063" name="Freeform: Shape 1062">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35490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9A4AE-5D52-AFBF-4A64-741DFEDEFDDF}"/>
              </a:ext>
            </a:extLst>
          </p:cNvPr>
          <p:cNvSpPr>
            <a:spLocks noGrp="1"/>
          </p:cNvSpPr>
          <p:nvPr>
            <p:ph type="title"/>
          </p:nvPr>
        </p:nvSpPr>
        <p:spPr/>
        <p:txBody>
          <a:bodyPr/>
          <a:lstStyle/>
          <a:p>
            <a:r>
              <a:rPr lang="en-US" dirty="0"/>
              <a:t>Hard ware &amp; Software used:</a:t>
            </a:r>
          </a:p>
        </p:txBody>
      </p:sp>
      <p:sp>
        <p:nvSpPr>
          <p:cNvPr id="3" name="Content Placeholder 2">
            <a:extLst>
              <a:ext uri="{FF2B5EF4-FFF2-40B4-BE49-F238E27FC236}">
                <a16:creationId xmlns:a16="http://schemas.microsoft.com/office/drawing/2014/main" id="{C53B2B52-BE72-C381-7388-A487F0B06F1E}"/>
              </a:ext>
            </a:extLst>
          </p:cNvPr>
          <p:cNvSpPr>
            <a:spLocks noGrp="1"/>
          </p:cNvSpPr>
          <p:nvPr>
            <p:ph idx="1"/>
          </p:nvPr>
        </p:nvSpPr>
        <p:spPr/>
        <p:txBody>
          <a:bodyPr>
            <a:normAutofit lnSpcReduction="10000"/>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ESP32 </a:t>
            </a: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microcontroller</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Ultrasonic Sensors &amp; IR sensor</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LEDs (Red, Yellow, Green for each road)</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Resistors (220-ohm, 12x)</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Breadboard &amp; connecting wires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5V Power Supply</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Micro-USB cable (for ESP32)</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 IDE</a:t>
            </a:r>
          </a:p>
          <a:p>
            <a:endParaRPr lang="en-US" dirty="0"/>
          </a:p>
        </p:txBody>
      </p:sp>
    </p:spTree>
    <p:extLst>
      <p:ext uri="{BB962C8B-B14F-4D97-AF65-F5344CB8AC3E}">
        <p14:creationId xmlns:p14="http://schemas.microsoft.com/office/powerpoint/2010/main" val="344817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8A9F6-B720-A187-4480-5512A94DAF64}"/>
              </a:ext>
            </a:extLst>
          </p:cNvPr>
          <p:cNvSpPr>
            <a:spLocks noGrp="1"/>
          </p:cNvSpPr>
          <p:nvPr>
            <p:ph type="title"/>
          </p:nvPr>
        </p:nvSpPr>
        <p:spPr/>
        <p:txBody>
          <a:bodyPr/>
          <a:lstStyle/>
          <a:p>
            <a:r>
              <a:rPr lang="en-US" dirty="0"/>
              <a:t>Application:</a:t>
            </a:r>
          </a:p>
        </p:txBody>
      </p:sp>
      <p:sp>
        <p:nvSpPr>
          <p:cNvPr id="3" name="Content Placeholder 2">
            <a:extLst>
              <a:ext uri="{FF2B5EF4-FFF2-40B4-BE49-F238E27FC236}">
                <a16:creationId xmlns:a16="http://schemas.microsoft.com/office/drawing/2014/main" id="{9698C6DA-8EA1-2DCA-AEF4-3F92D285D8FF}"/>
              </a:ext>
            </a:extLst>
          </p:cNvPr>
          <p:cNvSpPr>
            <a:spLocks noGrp="1"/>
          </p:cNvSpPr>
          <p:nvPr>
            <p:ph idx="1"/>
          </p:nvPr>
        </p:nvSpPr>
        <p:spPr/>
        <p:txBody>
          <a:bodyPr>
            <a:normAutofit/>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 Cities: Integrate into intelligent urban mobility platforms for real-time traffic adaptation.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Analytics: Data can support urban planning or dynamic control strategy improvements.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Public Safety: (Future) Emergency evacuation management and priority signaling.</a:t>
            </a:r>
          </a:p>
        </p:txBody>
      </p:sp>
    </p:spTree>
    <p:extLst>
      <p:ext uri="{BB962C8B-B14F-4D97-AF65-F5344CB8AC3E}">
        <p14:creationId xmlns:p14="http://schemas.microsoft.com/office/powerpoint/2010/main" val="198963382"/>
      </p:ext>
    </p:extLst>
  </p:cSld>
  <p:clrMapOvr>
    <a:masterClrMapping/>
  </p:clrMapOvr>
</p:sld>
</file>

<file path=ppt/theme/theme1.xml><?xml version="1.0" encoding="utf-8"?>
<a:theme xmlns:a="http://schemas.openxmlformats.org/drawingml/2006/main" name="RocaVTI">
  <a:themeElements>
    <a:clrScheme name="Custom 101">
      <a:dk1>
        <a:sysClr val="windowText" lastClr="000000"/>
      </a:dk1>
      <a:lt1>
        <a:sysClr val="window" lastClr="FFFFFF"/>
      </a:lt1>
      <a:dk2>
        <a:srgbClr val="463443"/>
      </a:dk2>
      <a:lt2>
        <a:srgbClr val="F3F0E9"/>
      </a:lt2>
      <a:accent1>
        <a:srgbClr val="D45E5E"/>
      </a:accent1>
      <a:accent2>
        <a:srgbClr val="D49D8C"/>
      </a:accent2>
      <a:accent3>
        <a:srgbClr val="BF873A"/>
      </a:accent3>
      <a:accent4>
        <a:srgbClr val="C05050"/>
      </a:accent4>
      <a:accent5>
        <a:srgbClr val="A89F68"/>
      </a:accent5>
      <a:accent6>
        <a:srgbClr val="8F6B8A"/>
      </a:accent6>
      <a:hlink>
        <a:srgbClr val="D75681"/>
      </a:hlink>
      <a:folHlink>
        <a:srgbClr val="6C9D92"/>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docProps/app.xml><?xml version="1.0" encoding="utf-8"?>
<Properties xmlns="http://schemas.openxmlformats.org/officeDocument/2006/extended-properties" xmlns:vt="http://schemas.openxmlformats.org/officeDocument/2006/docPropsVTypes">
  <TotalTime>28</TotalTime>
  <Words>289</Words>
  <Application>Microsoft Macintosh PowerPoint</Application>
  <PresentationFormat>Widescreen</PresentationFormat>
  <Paragraphs>26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Avenir Next LT Pro</vt:lpstr>
      <vt:lpstr>Avenir Next LT Pro Light</vt:lpstr>
      <vt:lpstr>Georgia Pro Semibold</vt:lpstr>
      <vt:lpstr>Times New Roman</vt:lpstr>
      <vt:lpstr>RocaVTI</vt:lpstr>
      <vt:lpstr>Title:</vt:lpstr>
      <vt:lpstr>Problem Statement:</vt:lpstr>
      <vt:lpstr>Objectives:</vt:lpstr>
      <vt:lpstr>Use cases:</vt:lpstr>
      <vt:lpstr>PowerPoint Presentation</vt:lpstr>
      <vt:lpstr>Hard ware &amp; Software used:</vt:lpstr>
      <vt:lpstr>Application: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PASUPULETI GIRISH BABU</dc:creator>
  <cp:lastModifiedBy>PASUPULETI GIRISH BABU</cp:lastModifiedBy>
  <cp:revision>1</cp:revision>
  <dcterms:created xsi:type="dcterms:W3CDTF">2025-09-08T01:53:08Z</dcterms:created>
  <dcterms:modified xsi:type="dcterms:W3CDTF">2025-09-08T02:21:33Z</dcterms:modified>
</cp:coreProperties>
</file>